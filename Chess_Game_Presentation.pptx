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16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29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2857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2" name="Shape 10"/>
          <p:cNvSpPr/>
          <p:nvPr/>
        </p:nvSpPr>
        <p:spPr>
          <a:xfrm>
            <a:off x="5143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86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29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0"/>
            <a:ext cx="5715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572500" y="0"/>
            <a:ext cx="571500" cy="3200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2880" y="2286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3E"/>
                </a:solidFill>
              </a:rPr>
              <a:t>♟</a:t>
            </a:r>
            <a:endParaRPr lang="en-US" sz="13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743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3E"/>
                </a:solidFill>
              </a:rPr>
              <a:t>♔</a:t>
            </a:r>
            <a:endParaRPr lang="en-US" sz="13000" dirty="0"/>
          </a:p>
        </p:txBody>
      </p:sp>
      <p:sp>
        <p:nvSpPr>
          <p:cNvPr id="21" name="Shape 19"/>
          <p:cNvSpPr/>
          <p:nvPr/>
        </p:nvSpPr>
        <p:spPr>
          <a:xfrm>
            <a:off x="1097280" y="1463040"/>
            <a:ext cx="73152" cy="2286000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13716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♛  Java Chess Game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23317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2B04A"/>
                </a:solidFill>
              </a:rPr>
              <a:t>A Fully Functional Two-Player Desktop Application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325880" y="29718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A2A4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25880" y="2971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D9"/>
                </a:solidFill>
              </a:rPr>
              <a:t>Java Swing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53512" y="29718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A2A4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53512" y="2971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D9"/>
                </a:solidFill>
              </a:rPr>
              <a:t>OOP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81144" y="29718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A2A4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81144" y="2971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D9"/>
                </a:solidFill>
              </a:rPr>
              <a:t>Game Logic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29718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A2A45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08776" y="2971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0D9"/>
                </a:solidFill>
              </a:rPr>
              <a:t>State Management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6" name="Shape 34"/>
          <p:cNvSpPr/>
          <p:nvPr/>
        </p:nvSpPr>
        <p:spPr>
          <a:xfrm>
            <a:off x="1714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3429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6" name="Shape 44"/>
          <p:cNvSpPr/>
          <p:nvPr/>
        </p:nvSpPr>
        <p:spPr>
          <a:xfrm>
            <a:off x="7429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846320"/>
            <a:ext cx="571500" cy="29718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0" y="4846320"/>
            <a:ext cx="571500" cy="2971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TextBox 48"/>
          <p:cNvSpPr txBox="1"/>
          <p:nvPr/>
        </p:nvSpPr>
        <p:spPr>
          <a:xfrm>
            <a:off x="1198107" y="3456432"/>
            <a:ext cx="3981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Nikhil Reddy </a:t>
            </a:r>
            <a:r>
              <a:rPr lang="en-IN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Buzunoor</a:t>
            </a:r>
            <a:r>
              <a:rPr lang="en-I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(25891A7212</a:t>
            </a:r>
            <a:r>
              <a:rPr lang="en-I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en-IN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♟  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B04A"/>
                </a:solidFill>
              </a:rPr>
              <a:t>What Is This Project?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♟  Two-player desktop Chess game built with Java Swing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984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🎯  Implements ALL official FIDE chess rules — not just movement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4597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⚙️  Complete rule validation engine with game-state management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9352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🖥️  Graphical board with visual feedback (legal moves, check highlight)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410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🏆  Handles every edge case: castling, en passant logic, promotion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8E8"/>
                </a:solidFill>
              </a:rPr>
              <a:t>⚖️  Draw detection: 50-move rule &amp; insufficient material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Chess Pieces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146304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♔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146304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♕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Queen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46888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778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♖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Rook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46888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♗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Bishop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47472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♘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Knight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3474720"/>
            <a:ext cx="1371600" cy="8686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2B04A"/>
                </a:solidFill>
              </a:rPr>
              <a:t>♙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0"/>
                </a:solidFill>
              </a:rPr>
              <a:t>Pawn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1920240" cy="411480"/>
          </a:xfrm>
          <a:prstGeom prst="rect">
            <a:avLst/>
          </a:prstGeom>
          <a:solidFill>
            <a:srgbClr val="2A2A45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6 Piece Types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50592" y="4572000"/>
            <a:ext cx="1920240" cy="411480"/>
          </a:xfrm>
          <a:prstGeom prst="rect">
            <a:avLst/>
          </a:prstGeom>
          <a:solidFill>
            <a:srgbClr val="2A2A45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50592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20+ Commits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4572000"/>
            <a:ext cx="1920240" cy="411480"/>
          </a:xfrm>
          <a:prstGeom prst="rect">
            <a:avLst/>
          </a:prstGeom>
          <a:solidFill>
            <a:srgbClr val="2A2A45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26864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1 JAR File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03136" y="4572000"/>
            <a:ext cx="1920240" cy="411480"/>
          </a:xfrm>
          <a:prstGeom prst="rect">
            <a:avLst/>
          </a:prstGeom>
          <a:solidFill>
            <a:srgbClr val="2A2A45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03136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All Rules Implemented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⚙️  Object-Oriented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960120"/>
            <a:ext cx="2560320" cy="777240"/>
          </a:xfrm>
          <a:prstGeom prst="rect">
            <a:avLst/>
          </a:prstGeom>
          <a:solidFill>
            <a:srgbClr val="2A2A45"/>
          </a:solidFill>
          <a:ln w="25400">
            <a:solidFill>
              <a:srgbClr val="9C6F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6FDE"/>
                </a:solidFill>
              </a:rPr>
              <a:t>&lt;&lt;abstract&gt;&gt;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Piece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7863840" cy="0"/>
          </a:xfrm>
          <a:prstGeom prst="line">
            <a:avLst/>
          </a:prstGeom>
          <a:noFill/>
          <a:ln w="19050">
            <a:solidFill>
              <a:srgbClr val="3A3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37360"/>
            <a:ext cx="0" cy="594360"/>
          </a:xfrm>
          <a:prstGeom prst="line">
            <a:avLst/>
          </a:prstGeom>
          <a:noFill/>
          <a:ln w="19050">
            <a:solidFill>
              <a:srgbClr val="3A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♙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Pawn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8288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9164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♖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Rook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8620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♘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Knight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♗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Bishop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♕</a:t>
            </a:r>
            <a:endParaRPr lang="en-US" sz="32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Queen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412480" y="2331720"/>
            <a:ext cx="0" cy="228600"/>
          </a:xfrm>
          <a:prstGeom prst="line">
            <a:avLst/>
          </a:prstGeom>
          <a:noFill/>
          <a:ln w="12700">
            <a:solidFill>
              <a:srgbClr val="3A3A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2560320"/>
            <a:ext cx="137160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6680" y="25786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2B04A"/>
                </a:solidFill>
              </a:rPr>
              <a:t>♔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King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extends Piece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2743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B04A"/>
                </a:solidFill>
              </a:rPr>
              <a:t>Core Classes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3931920" cy="548640"/>
          </a:xfrm>
          <a:prstGeom prst="rect">
            <a:avLst/>
          </a:prstGeom>
          <a:solidFill>
            <a:srgbClr val="1E2A3A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432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</a:rPr>
              <a:t>Game.java  —  Entry point, game loop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4251960"/>
            <a:ext cx="3931920" cy="54864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</a:rPr>
              <a:t>Board.java  —  Board state &amp; rendering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  Game State &amp; Move Validation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</a:rPr>
              <a:t>Player Turn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60020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4630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E2B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50592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♙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450592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Piece Selected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160020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0832" y="14630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</a:rPr>
              <a:t>Destination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47104" y="160020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146304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03136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♔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1572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C5C"/>
                </a:solidFill>
              </a:rPr>
              <a:t>King Safety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2990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C5C"/>
                </a:solidFill>
              </a:rPr>
              <a:t>Check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301752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94560" y="2880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50592" y="242316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50592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2450592" y="2990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50"/>
                </a:solidFill>
              </a:rPr>
              <a:t>Legal Move Confirmed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301752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0832" y="2880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26864" y="242316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26864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4626864" y="2990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</a:rPr>
              <a:t>Board State Update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47104" y="3017520"/>
            <a:ext cx="256032" cy="0"/>
          </a:xfrm>
          <a:prstGeom prst="line">
            <a:avLst/>
          </a:prstGeom>
          <a:noFill/>
          <a:ln w="19050">
            <a:solidFill>
              <a:srgbClr val="A0A0B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47104" y="2880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B0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03136" y="2423160"/>
            <a:ext cx="1920240" cy="1188720"/>
          </a:xfrm>
          <a:prstGeom prst="rect">
            <a:avLst/>
          </a:prstGeom>
          <a:solidFill>
            <a:srgbClr val="1E2A3A"/>
          </a:solidFill>
          <a:ln w="19050">
            <a:solidFill>
              <a:srgbClr val="E2B0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03136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🏁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6803136" y="2990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B04A"/>
                </a:solidFill>
              </a:rPr>
              <a:t>Win / Draw / Next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252545"/>
          </a:solidFill>
          <a:ln w="12700">
            <a:solidFill>
              <a:srgbClr val="E2B0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B04A"/>
                </a:solidFill>
              </a:rPr>
              <a:t>💡  Key Insight: A move is legal only if the resulting board state does NOT leave the King in check — pure state-based validation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♛  Special Rules &amp; Edge Cases Implemented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012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♔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5C5C"/>
                </a:solidFill>
              </a:rPr>
              <a:t>Check &amp; Checkmate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3807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Detects when King is under attack. Validates all possible escape moves. If none exist → Checkmate declared.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90D9"/>
                </a:solidFill>
              </a:rPr>
              <a:t>Stalemate Detection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3807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Checks if the active player has no legal moves, but is NOT in check. Result: draw — neither player wins.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4028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E2B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🏰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B04A"/>
                </a:solidFill>
              </a:rPr>
              <a:t>Castling (Both Sides)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Kingside &amp; Queenside castling. Validates: King never in check, neither piece has moved, no pieces between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24028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</a:rPr>
              <a:t>Pawn Promotion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When a pawn reaches rank 8 (or rank 1 for Black), the player can promote it to Queen, Rook, Bishop, or Knight.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52044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9C6F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6FDE"/>
                </a:solidFill>
              </a:rPr>
              <a:t>50-Move Rule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941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Tracks half-moves since last pawn move or capture. If 50 consecutive moves pass with no progress → draw.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114800" cy="1143000"/>
          </a:xfrm>
          <a:prstGeom prst="rect">
            <a:avLst/>
          </a:prstGeom>
          <a:solidFill>
            <a:srgbClr val="1E2A3A"/>
          </a:solidFill>
          <a:ln w="19050">
            <a:solidFill>
              <a:srgbClr val="E2B0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B04A"/>
                </a:solidFill>
              </a:rPr>
              <a:t>Insufficient Material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941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</a:rPr>
              <a:t>Detects positions where neither side has enough pieces to deliver checkmate (e.g. King vs King+Bishop).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📁  Classes, Components &amp; Tech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Class Breakdown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417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AF50"/>
                </a:solidFill>
              </a:rPr>
              <a:t>🎮 Game.java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64208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Main entry point, game loop &amp; turn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18196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♟ Board.java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64208" y="18196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2D board array, rendering, move execution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9C6F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2219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6FDE"/>
                </a:solidFill>
              </a:rPr>
              <a:t>🧩 Piece.java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64208" y="2221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Abstract base: position, color, getMoves()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2B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2624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B04A"/>
                </a:solidFill>
              </a:rPr>
              <a:t>♙ Pawn.java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2624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Pawn movement, promotion trigger, first-move flag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26664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2B0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3026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B04A"/>
                </a:solidFill>
              </a:rPr>
              <a:t>♖ Rook.java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664208" y="30266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Horizontal/vertical sliding, castling rights flag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2B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3429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B04A"/>
                </a:solidFill>
              </a:rPr>
              <a:t>♘ Knight.java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664208" y="3429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L-shape jumps, ignores blocking pieces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831336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2B0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" y="38313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B04A"/>
                </a:solidFill>
              </a:rPr>
              <a:t>♗ Bishop.java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3831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Diagonal sliding movement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33672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2B0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" y="4233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B04A"/>
                </a:solidFill>
              </a:rPr>
              <a:t>♕ Queen.java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664208" y="4233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Combines Rook + Bishop movement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636008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" y="4636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5C5C"/>
                </a:solidFill>
              </a:rPr>
              <a:t>♔ King.java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664208" y="4636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Single-step moves, castling, check awareness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091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Java SE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Core language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819656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9160" y="1819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Java Swing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1819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GUI framework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221992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09160" y="22219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AWT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2221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Event handling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624328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09160" y="2624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JFrame/JPanel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2624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Window &amp; board canvas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026664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09160" y="3026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MouseListener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217920" y="3026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Click-based interaction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4114800" cy="347472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09160" y="3429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✦ ImageIcon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</a:rPr>
              <a:t>Piece images on board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663440" y="3866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</a:rPr>
              <a:t>OOP Principles Applied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663440" y="4165651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✔ Inheritance  (Piece → all piece classes)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663440" y="438615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✔ Polymorphism  (getMoves() overridden per piece)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663440" y="4599037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✔ Encapsulation  (position, color hidden in Piece)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4663440" y="4813231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✔ Abstraction  (Piece as abstract class)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🖥️  GUI Design &amp; Visual Feedback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96012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96012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9" name="Shape 7"/>
          <p:cNvSpPr/>
          <p:nvPr/>
        </p:nvSpPr>
        <p:spPr>
          <a:xfrm>
            <a:off x="1746504" y="96012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0" name="Shape 8"/>
          <p:cNvSpPr/>
          <p:nvPr/>
        </p:nvSpPr>
        <p:spPr>
          <a:xfrm>
            <a:off x="2221992" y="96012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96012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2" name="Shape 10"/>
          <p:cNvSpPr/>
          <p:nvPr/>
        </p:nvSpPr>
        <p:spPr>
          <a:xfrm>
            <a:off x="3172968" y="96012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48456" y="96012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43560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143560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1016" y="143560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7" name="Shape 15"/>
          <p:cNvSpPr/>
          <p:nvPr/>
        </p:nvSpPr>
        <p:spPr>
          <a:xfrm>
            <a:off x="1746504" y="143560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1992" y="143560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143560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0" name="Shape 18"/>
          <p:cNvSpPr/>
          <p:nvPr/>
        </p:nvSpPr>
        <p:spPr>
          <a:xfrm>
            <a:off x="3172968" y="143560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48456" y="143560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191109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191109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24" name="Shape 22"/>
          <p:cNvSpPr/>
          <p:nvPr/>
        </p:nvSpPr>
        <p:spPr>
          <a:xfrm>
            <a:off x="1271016" y="191109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746504" y="191109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92" y="191109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97480" y="191109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28" name="Shape 26"/>
          <p:cNvSpPr/>
          <p:nvPr/>
        </p:nvSpPr>
        <p:spPr>
          <a:xfrm>
            <a:off x="3172968" y="191109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48456" y="191109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386584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" y="2386584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71016" y="2386584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33" name="Shape 31"/>
          <p:cNvSpPr/>
          <p:nvPr/>
        </p:nvSpPr>
        <p:spPr>
          <a:xfrm>
            <a:off x="1746504" y="2386584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21992" y="2386584"/>
            <a:ext cx="475488" cy="475488"/>
          </a:xfrm>
          <a:prstGeom prst="rect">
            <a:avLst/>
          </a:prstGeom>
          <a:solidFill>
            <a:srgbClr val="7FA6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697480" y="2386584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72968" y="2386584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37" name="Shape 35"/>
          <p:cNvSpPr/>
          <p:nvPr/>
        </p:nvSpPr>
        <p:spPr>
          <a:xfrm>
            <a:off x="3648456" y="2386584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2862072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" y="2862072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40" name="Shape 38"/>
          <p:cNvSpPr/>
          <p:nvPr/>
        </p:nvSpPr>
        <p:spPr>
          <a:xfrm>
            <a:off x="1271016" y="2862072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1" name="Shape 39"/>
          <p:cNvSpPr/>
          <p:nvPr/>
        </p:nvSpPr>
        <p:spPr>
          <a:xfrm>
            <a:off x="1746504" y="2862072"/>
            <a:ext cx="475488" cy="475488"/>
          </a:xfrm>
          <a:prstGeom prst="rect">
            <a:avLst/>
          </a:prstGeom>
          <a:solidFill>
            <a:srgbClr val="7FA6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1992" y="2862072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3" name="Shape 41"/>
          <p:cNvSpPr/>
          <p:nvPr/>
        </p:nvSpPr>
        <p:spPr>
          <a:xfrm>
            <a:off x="2697480" y="2862072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44" name="Shape 42"/>
          <p:cNvSpPr/>
          <p:nvPr/>
        </p:nvSpPr>
        <p:spPr>
          <a:xfrm>
            <a:off x="3172968" y="2862072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5" name="Shape 43"/>
          <p:cNvSpPr/>
          <p:nvPr/>
        </p:nvSpPr>
        <p:spPr>
          <a:xfrm>
            <a:off x="3648456" y="2862072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333756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" y="333756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8" name="Shape 46"/>
          <p:cNvSpPr/>
          <p:nvPr/>
        </p:nvSpPr>
        <p:spPr>
          <a:xfrm>
            <a:off x="1271016" y="333756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49" name="Shape 47"/>
          <p:cNvSpPr/>
          <p:nvPr/>
        </p:nvSpPr>
        <p:spPr>
          <a:xfrm>
            <a:off x="1746504" y="3337560"/>
            <a:ext cx="475488" cy="475488"/>
          </a:xfrm>
          <a:prstGeom prst="rect">
            <a:avLst/>
          </a:prstGeom>
          <a:solidFill>
            <a:srgbClr val="C84B4B"/>
          </a:solidFill>
          <a:ln/>
        </p:spPr>
      </p:sp>
      <p:sp>
        <p:nvSpPr>
          <p:cNvPr id="50" name="Shape 48"/>
          <p:cNvSpPr/>
          <p:nvPr/>
        </p:nvSpPr>
        <p:spPr>
          <a:xfrm>
            <a:off x="2221992" y="333756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51" name="Shape 49"/>
          <p:cNvSpPr/>
          <p:nvPr/>
        </p:nvSpPr>
        <p:spPr>
          <a:xfrm>
            <a:off x="2697480" y="333756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52" name="Shape 50"/>
          <p:cNvSpPr/>
          <p:nvPr/>
        </p:nvSpPr>
        <p:spPr>
          <a:xfrm>
            <a:off x="3172968" y="3337560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53" name="Shape 51"/>
          <p:cNvSpPr/>
          <p:nvPr/>
        </p:nvSpPr>
        <p:spPr>
          <a:xfrm>
            <a:off x="3648456" y="3337560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54" name="Shape 52"/>
          <p:cNvSpPr/>
          <p:nvPr/>
        </p:nvSpPr>
        <p:spPr>
          <a:xfrm>
            <a:off x="320040" y="381304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55" name="Shape 53"/>
          <p:cNvSpPr/>
          <p:nvPr/>
        </p:nvSpPr>
        <p:spPr>
          <a:xfrm>
            <a:off x="795528" y="381304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56" name="Shape 54"/>
          <p:cNvSpPr/>
          <p:nvPr/>
        </p:nvSpPr>
        <p:spPr>
          <a:xfrm>
            <a:off x="1271016" y="381304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57" name="Shape 55"/>
          <p:cNvSpPr/>
          <p:nvPr/>
        </p:nvSpPr>
        <p:spPr>
          <a:xfrm>
            <a:off x="1746504" y="381304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58" name="Shape 56"/>
          <p:cNvSpPr/>
          <p:nvPr/>
        </p:nvSpPr>
        <p:spPr>
          <a:xfrm>
            <a:off x="2221992" y="381304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7480" y="381304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0" name="Shape 58"/>
          <p:cNvSpPr/>
          <p:nvPr/>
        </p:nvSpPr>
        <p:spPr>
          <a:xfrm>
            <a:off x="3172968" y="3813048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1" name="Shape 59"/>
          <p:cNvSpPr/>
          <p:nvPr/>
        </p:nvSpPr>
        <p:spPr>
          <a:xfrm>
            <a:off x="3648456" y="3813048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2" name="Shape 60"/>
          <p:cNvSpPr/>
          <p:nvPr/>
        </p:nvSpPr>
        <p:spPr>
          <a:xfrm>
            <a:off x="320040" y="428853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3" name="Shape 61"/>
          <p:cNvSpPr/>
          <p:nvPr/>
        </p:nvSpPr>
        <p:spPr>
          <a:xfrm>
            <a:off x="795528" y="428853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4" name="Shape 62"/>
          <p:cNvSpPr/>
          <p:nvPr/>
        </p:nvSpPr>
        <p:spPr>
          <a:xfrm>
            <a:off x="1271016" y="428853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5" name="Shape 63"/>
          <p:cNvSpPr/>
          <p:nvPr/>
        </p:nvSpPr>
        <p:spPr>
          <a:xfrm>
            <a:off x="1746504" y="428853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6" name="Shape 64"/>
          <p:cNvSpPr/>
          <p:nvPr/>
        </p:nvSpPr>
        <p:spPr>
          <a:xfrm>
            <a:off x="2221992" y="428853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7" name="Shape 65"/>
          <p:cNvSpPr/>
          <p:nvPr/>
        </p:nvSpPr>
        <p:spPr>
          <a:xfrm>
            <a:off x="2697480" y="428853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68" name="Shape 66"/>
          <p:cNvSpPr/>
          <p:nvPr/>
        </p:nvSpPr>
        <p:spPr>
          <a:xfrm>
            <a:off x="3172968" y="4288536"/>
            <a:ext cx="475488" cy="475488"/>
          </a:xfrm>
          <a:prstGeom prst="rect">
            <a:avLst/>
          </a:prstGeom>
          <a:solidFill>
            <a:srgbClr val="704214"/>
          </a:solidFill>
          <a:ln/>
        </p:spPr>
      </p:sp>
      <p:sp>
        <p:nvSpPr>
          <p:cNvPr id="69" name="Shape 67"/>
          <p:cNvSpPr/>
          <p:nvPr/>
        </p:nvSpPr>
        <p:spPr>
          <a:xfrm>
            <a:off x="3648456" y="4288536"/>
            <a:ext cx="475488" cy="47548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2004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♜</a:t>
            </a:r>
            <a:endParaRPr lang="en-US" sz="2000" dirty="0"/>
          </a:p>
        </p:txBody>
      </p:sp>
      <p:sp>
        <p:nvSpPr>
          <p:cNvPr id="71" name="Text 69"/>
          <p:cNvSpPr txBox="1"/>
          <p:nvPr/>
        </p:nvSpPr>
        <p:spPr>
          <a:xfrm>
            <a:off x="364845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♜</a:t>
            </a:r>
            <a:endParaRPr lang="en-US" sz="2000" dirty="0"/>
          </a:p>
        </p:txBody>
      </p:sp>
      <p:sp>
        <p:nvSpPr>
          <p:cNvPr id="72" name="Text 70"/>
          <p:cNvSpPr txBox="1"/>
          <p:nvPr/>
        </p:nvSpPr>
        <p:spPr>
          <a:xfrm>
            <a:off x="79552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♞</a:t>
            </a:r>
            <a:endParaRPr lang="en-US" sz="2000" dirty="0"/>
          </a:p>
        </p:txBody>
      </p:sp>
      <p:sp>
        <p:nvSpPr>
          <p:cNvPr id="73" name="Text 71"/>
          <p:cNvSpPr txBox="1"/>
          <p:nvPr/>
        </p:nvSpPr>
        <p:spPr>
          <a:xfrm>
            <a:off x="317296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♞</a:t>
            </a:r>
            <a:endParaRPr lang="en-US" sz="2000" dirty="0"/>
          </a:p>
        </p:txBody>
      </p:sp>
      <p:sp>
        <p:nvSpPr>
          <p:cNvPr id="74" name="Text 72"/>
          <p:cNvSpPr txBox="1"/>
          <p:nvPr/>
        </p:nvSpPr>
        <p:spPr>
          <a:xfrm>
            <a:off x="127101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♝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269748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♝</a:t>
            </a:r>
            <a:endParaRPr lang="en-US" sz="2000" dirty="0"/>
          </a:p>
        </p:txBody>
      </p:sp>
      <p:sp>
        <p:nvSpPr>
          <p:cNvPr id="76" name="Text 74"/>
          <p:cNvSpPr txBox="1"/>
          <p:nvPr/>
        </p:nvSpPr>
        <p:spPr>
          <a:xfrm>
            <a:off x="1746504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♛</a:t>
            </a:r>
            <a:endParaRPr lang="en-US" sz="2000" dirty="0"/>
          </a:p>
        </p:txBody>
      </p:sp>
      <p:sp>
        <p:nvSpPr>
          <p:cNvPr id="77" name="Text 75"/>
          <p:cNvSpPr txBox="1"/>
          <p:nvPr/>
        </p:nvSpPr>
        <p:spPr>
          <a:xfrm>
            <a:off x="2221992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♚</a:t>
            </a:r>
            <a:endParaRPr lang="en-US" sz="2000" dirty="0"/>
          </a:p>
        </p:txBody>
      </p:sp>
      <p:sp>
        <p:nvSpPr>
          <p:cNvPr id="78" name="Text 76"/>
          <p:cNvSpPr txBox="1"/>
          <p:nvPr/>
        </p:nvSpPr>
        <p:spPr>
          <a:xfrm>
            <a:off x="32004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♖</a:t>
            </a:r>
            <a:endParaRPr lang="en-US" sz="2000" dirty="0"/>
          </a:p>
        </p:txBody>
      </p:sp>
      <p:sp>
        <p:nvSpPr>
          <p:cNvPr id="79" name="Text 77"/>
          <p:cNvSpPr txBox="1"/>
          <p:nvPr/>
        </p:nvSpPr>
        <p:spPr>
          <a:xfrm>
            <a:off x="3648456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♖</a:t>
            </a:r>
            <a:endParaRPr lang="en-US" sz="2000" dirty="0"/>
          </a:p>
        </p:txBody>
      </p:sp>
      <p:sp>
        <p:nvSpPr>
          <p:cNvPr id="80" name="Text 78"/>
          <p:cNvSpPr txBox="1"/>
          <p:nvPr/>
        </p:nvSpPr>
        <p:spPr>
          <a:xfrm>
            <a:off x="79552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♘</a:t>
            </a:r>
            <a:endParaRPr lang="en-US" sz="2000" dirty="0"/>
          </a:p>
        </p:txBody>
      </p:sp>
      <p:sp>
        <p:nvSpPr>
          <p:cNvPr id="81" name="Text 79"/>
          <p:cNvSpPr txBox="1"/>
          <p:nvPr/>
        </p:nvSpPr>
        <p:spPr>
          <a:xfrm>
            <a:off x="317296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♘</a:t>
            </a:r>
            <a:endParaRPr lang="en-US" sz="2000" dirty="0"/>
          </a:p>
        </p:txBody>
      </p:sp>
      <p:sp>
        <p:nvSpPr>
          <p:cNvPr id="82" name="Text 80"/>
          <p:cNvSpPr txBox="1"/>
          <p:nvPr/>
        </p:nvSpPr>
        <p:spPr>
          <a:xfrm>
            <a:off x="1271016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♗</a:t>
            </a:r>
            <a:endParaRPr lang="en-US" sz="2000" dirty="0"/>
          </a:p>
        </p:txBody>
      </p:sp>
      <p:sp>
        <p:nvSpPr>
          <p:cNvPr id="83" name="Text 81"/>
          <p:cNvSpPr txBox="1"/>
          <p:nvPr/>
        </p:nvSpPr>
        <p:spPr>
          <a:xfrm>
            <a:off x="269748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♗</a:t>
            </a:r>
            <a:endParaRPr lang="en-US" sz="2000" dirty="0"/>
          </a:p>
        </p:txBody>
      </p:sp>
      <p:sp>
        <p:nvSpPr>
          <p:cNvPr id="84" name="Text 82"/>
          <p:cNvSpPr txBox="1"/>
          <p:nvPr/>
        </p:nvSpPr>
        <p:spPr>
          <a:xfrm>
            <a:off x="1746504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♕</a:t>
            </a:r>
            <a:endParaRPr lang="en-US" sz="2000" dirty="0"/>
          </a:p>
        </p:txBody>
      </p:sp>
      <p:sp>
        <p:nvSpPr>
          <p:cNvPr id="85" name="Text 83"/>
          <p:cNvSpPr txBox="1"/>
          <p:nvPr/>
        </p:nvSpPr>
        <p:spPr>
          <a:xfrm>
            <a:off x="2221992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♔</a:t>
            </a:r>
            <a:endParaRPr lang="en-US" sz="2000" dirty="0"/>
          </a:p>
        </p:txBody>
      </p:sp>
      <p:sp>
        <p:nvSpPr>
          <p:cNvPr id="86" name="Text 84"/>
          <p:cNvSpPr txBox="1"/>
          <p:nvPr/>
        </p:nvSpPr>
        <p:spPr>
          <a:xfrm>
            <a:off x="32004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87" name="Text 85"/>
          <p:cNvSpPr txBox="1"/>
          <p:nvPr/>
        </p:nvSpPr>
        <p:spPr>
          <a:xfrm>
            <a:off x="32004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88" name="Text 86"/>
          <p:cNvSpPr txBox="1"/>
          <p:nvPr/>
        </p:nvSpPr>
        <p:spPr>
          <a:xfrm>
            <a:off x="79552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89" name="Text 87"/>
          <p:cNvSpPr txBox="1"/>
          <p:nvPr/>
        </p:nvSpPr>
        <p:spPr>
          <a:xfrm>
            <a:off x="79552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90" name="Text 88"/>
          <p:cNvSpPr txBox="1"/>
          <p:nvPr/>
        </p:nvSpPr>
        <p:spPr>
          <a:xfrm>
            <a:off x="127101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91" name="Text 89"/>
          <p:cNvSpPr txBox="1"/>
          <p:nvPr/>
        </p:nvSpPr>
        <p:spPr>
          <a:xfrm>
            <a:off x="1271016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92" name="Text 90"/>
          <p:cNvSpPr txBox="1"/>
          <p:nvPr/>
        </p:nvSpPr>
        <p:spPr>
          <a:xfrm>
            <a:off x="1746504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93" name="Text 91"/>
          <p:cNvSpPr txBox="1"/>
          <p:nvPr/>
        </p:nvSpPr>
        <p:spPr>
          <a:xfrm>
            <a:off x="1746504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94" name="Text 92"/>
          <p:cNvSpPr txBox="1"/>
          <p:nvPr/>
        </p:nvSpPr>
        <p:spPr>
          <a:xfrm>
            <a:off x="2221992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95" name="Text 93"/>
          <p:cNvSpPr txBox="1"/>
          <p:nvPr/>
        </p:nvSpPr>
        <p:spPr>
          <a:xfrm>
            <a:off x="2221992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96" name="Text 94"/>
          <p:cNvSpPr txBox="1"/>
          <p:nvPr/>
        </p:nvSpPr>
        <p:spPr>
          <a:xfrm>
            <a:off x="269748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97" name="Text 95"/>
          <p:cNvSpPr txBox="1"/>
          <p:nvPr/>
        </p:nvSpPr>
        <p:spPr>
          <a:xfrm>
            <a:off x="2697480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98" name="Text 96"/>
          <p:cNvSpPr txBox="1"/>
          <p:nvPr/>
        </p:nvSpPr>
        <p:spPr>
          <a:xfrm>
            <a:off x="3172968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99" name="Text 97"/>
          <p:cNvSpPr txBox="1"/>
          <p:nvPr/>
        </p:nvSpPr>
        <p:spPr>
          <a:xfrm>
            <a:off x="317296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100" name="Text 98"/>
          <p:cNvSpPr txBox="1"/>
          <p:nvPr/>
        </p:nvSpPr>
        <p:spPr>
          <a:xfrm>
            <a:off x="364845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</a:rPr>
              <a:t>♟</a:t>
            </a:r>
            <a:endParaRPr lang="en-US" sz="2000" dirty="0"/>
          </a:p>
        </p:txBody>
      </p:sp>
      <p:sp>
        <p:nvSpPr>
          <p:cNvPr id="101" name="Text 99"/>
          <p:cNvSpPr txBox="1"/>
          <p:nvPr/>
        </p:nvSpPr>
        <p:spPr>
          <a:xfrm>
            <a:off x="3648456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EEEEE"/>
                </a:solidFill>
              </a:rPr>
              <a:t>♙</a:t>
            </a:r>
            <a:endParaRPr lang="en-US" sz="2000" dirty="0"/>
          </a:p>
        </p:txBody>
      </p:sp>
      <p:sp>
        <p:nvSpPr>
          <p:cNvPr id="102" name="Text 100"/>
          <p:cNvSpPr txBox="1"/>
          <p:nvPr/>
        </p:nvSpPr>
        <p:spPr>
          <a:xfrm>
            <a:off x="320040" y="4718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B0"/>
                </a:solidFill>
              </a:rPr>
              <a:t>Board Legend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27572" y="4926330"/>
            <a:ext cx="201168" cy="201168"/>
          </a:xfrm>
          <a:prstGeom prst="rect">
            <a:avLst/>
          </a:prstGeom>
          <a:solidFill>
            <a:srgbClr val="7FA650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546732" y="4919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E8"/>
                </a:solidFill>
              </a:rPr>
              <a:t>Legal move squares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77924" y="4908922"/>
            <a:ext cx="201168" cy="201168"/>
          </a:xfrm>
          <a:prstGeom prst="rect">
            <a:avLst/>
          </a:prstGeom>
          <a:solidFill>
            <a:srgbClr val="C84B4B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906524" y="491369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8E8"/>
                </a:solidFill>
              </a:rPr>
              <a:t>King in check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800728" y="4908922"/>
            <a:ext cx="201168" cy="201168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3063240" y="489432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smtClean="0">
                <a:solidFill>
                  <a:srgbClr val="E8E8E8"/>
                </a:solidFill>
              </a:rPr>
              <a:t>(</a:t>
            </a:r>
            <a:r>
              <a:rPr lang="en-US" sz="850" dirty="0">
                <a:solidFill>
                  <a:srgbClr val="E8E8E8"/>
                </a:solidFill>
              </a:rPr>
              <a:t>natural) Light squares 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4389120" y="960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B04A"/>
                </a:solidFill>
              </a:rPr>
              <a:t>Java Swing Components Used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4389120" y="1417320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434840" y="1417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JFrame</a:t>
            </a:r>
            <a:endParaRPr lang="en-US" sz="1100" dirty="0"/>
          </a:p>
        </p:txBody>
      </p:sp>
      <p:sp>
        <p:nvSpPr>
          <p:cNvPr id="112" name="Text 110"/>
          <p:cNvSpPr txBox="1"/>
          <p:nvPr/>
        </p:nvSpPr>
        <p:spPr>
          <a:xfrm>
            <a:off x="6080760" y="1417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Main application window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389120" y="1865376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434840" y="1865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JPanel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6080760" y="18653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Chess board canvas (8×8 grid)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389120" y="2313432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434840" y="2313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MouseListener</a:t>
            </a:r>
            <a:endParaRPr lang="en-US" sz="1100" dirty="0"/>
          </a:p>
        </p:txBody>
      </p:sp>
      <p:sp>
        <p:nvSpPr>
          <p:cNvPr id="118" name="Text 116"/>
          <p:cNvSpPr txBox="1"/>
          <p:nvPr/>
        </p:nvSpPr>
        <p:spPr>
          <a:xfrm>
            <a:off x="6080760" y="2313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Handles piece click &amp; destination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389120" y="2761488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43484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ImageIcon</a:t>
            </a:r>
            <a:endParaRPr lang="en-US" sz="1100" dirty="0"/>
          </a:p>
        </p:txBody>
      </p:sp>
      <p:sp>
        <p:nvSpPr>
          <p:cNvPr id="121" name="Text 119"/>
          <p:cNvSpPr txBox="1"/>
          <p:nvPr/>
        </p:nvSpPr>
        <p:spPr>
          <a:xfrm>
            <a:off x="6080760" y="27614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Renders piece images on squares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389120" y="3209544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434840" y="3209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Graphics2D</a:t>
            </a:r>
            <a:endParaRPr lang="en-US" sz="1100" dirty="0"/>
          </a:p>
        </p:txBody>
      </p:sp>
      <p:sp>
        <p:nvSpPr>
          <p:cNvPr id="124" name="Text 122"/>
          <p:cNvSpPr txBox="1"/>
          <p:nvPr/>
        </p:nvSpPr>
        <p:spPr>
          <a:xfrm>
            <a:off x="6080760" y="320954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Custom drawing (highlights, borders)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389120" y="3657600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43484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Color.decode()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6080760" y="3657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Dynamic square coloring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389120" y="4105656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4434840" y="4105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JOptionPane</a:t>
            </a:r>
            <a:endParaRPr lang="en-US" sz="1100" dirty="0"/>
          </a:p>
        </p:txBody>
      </p:sp>
      <p:sp>
        <p:nvSpPr>
          <p:cNvPr id="130" name="Text 128"/>
          <p:cNvSpPr txBox="1"/>
          <p:nvPr/>
        </p:nvSpPr>
        <p:spPr>
          <a:xfrm>
            <a:off x="6080760" y="41056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Pawn promotion dialog popup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389120" y="4553712"/>
            <a:ext cx="4389120" cy="384048"/>
          </a:xfrm>
          <a:prstGeom prst="rect">
            <a:avLst/>
          </a:prstGeom>
          <a:solidFill>
            <a:srgbClr val="1E2A3A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434840" y="4553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repaint()</a:t>
            </a:r>
            <a:endParaRPr lang="en-US" sz="1100" dirty="0"/>
          </a:p>
        </p:txBody>
      </p:sp>
      <p:sp>
        <p:nvSpPr>
          <p:cNvPr id="133" name="Text 131"/>
          <p:cNvSpPr txBox="1"/>
          <p:nvPr/>
        </p:nvSpPr>
        <p:spPr>
          <a:xfrm>
            <a:off x="6080760" y="45537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</a:rPr>
              <a:t>Refreshes board after every move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Shape 6"/>
          <p:cNvSpPr/>
          <p:nvPr/>
        </p:nvSpPr>
        <p:spPr>
          <a:xfrm>
            <a:off x="2857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0" name="Shape 8"/>
          <p:cNvSpPr/>
          <p:nvPr/>
        </p:nvSpPr>
        <p:spPr>
          <a:xfrm>
            <a:off x="4000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2" name="Shape 10"/>
          <p:cNvSpPr/>
          <p:nvPr/>
        </p:nvSpPr>
        <p:spPr>
          <a:xfrm>
            <a:off x="5143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86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29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0"/>
            <a:ext cx="571500" cy="20116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572500" y="0"/>
            <a:ext cx="571500" cy="20116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💡  Key Learnings &amp; Future Roadmap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E2B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B04A"/>
                </a:solidFill>
              </a:rPr>
              <a:t>What I Learned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" y="13716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🧠  OOP — inheritance, polymorphism, encapsulation in practice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18288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🎮  Event-driven GUI programming with Java Swing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2860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⚙️  Recursive state evaluation (check safety)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27432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🗂️  Managing complex interdependent game state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32004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🐛  Debugging deep edge cases in rule interactions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36576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🏗️  Breaking a large problem into modular classes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3716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🤖  Chess AI  (Minimax algorithm)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18288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📜  Move history + PGN notation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22860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22860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↩️  Undo / Redo moves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27432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27432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⏱️  Chess timer / clock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32004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💾  Save &amp; load game state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3657600"/>
            <a:ext cx="4023360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6576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8"/>
                </a:solidFill>
              </a:rPr>
              <a:t>🌐  Online multiplayer (socket)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80560" y="914400"/>
            <a:ext cx="0" cy="301752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3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7" name="Shape 45"/>
          <p:cNvSpPr/>
          <p:nvPr/>
        </p:nvSpPr>
        <p:spPr>
          <a:xfrm>
            <a:off x="1714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8" name="Shape 46"/>
          <p:cNvSpPr/>
          <p:nvPr/>
        </p:nvSpPr>
        <p:spPr>
          <a:xfrm>
            <a:off x="2286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49" name="Shape 47"/>
          <p:cNvSpPr/>
          <p:nvPr/>
        </p:nvSpPr>
        <p:spPr>
          <a:xfrm>
            <a:off x="2857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0" name="Shape 48"/>
          <p:cNvSpPr/>
          <p:nvPr/>
        </p:nvSpPr>
        <p:spPr>
          <a:xfrm>
            <a:off x="3429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1" name="Shape 49"/>
          <p:cNvSpPr/>
          <p:nvPr/>
        </p:nvSpPr>
        <p:spPr>
          <a:xfrm>
            <a:off x="4000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3" name="Shape 51"/>
          <p:cNvSpPr/>
          <p:nvPr/>
        </p:nvSpPr>
        <p:spPr>
          <a:xfrm>
            <a:off x="5143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4" name="Shape 52"/>
          <p:cNvSpPr/>
          <p:nvPr/>
        </p:nvSpPr>
        <p:spPr>
          <a:xfrm>
            <a:off x="5715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5" name="Shape 53"/>
          <p:cNvSpPr/>
          <p:nvPr/>
        </p:nvSpPr>
        <p:spPr>
          <a:xfrm>
            <a:off x="6286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8" name="Shape 56"/>
          <p:cNvSpPr/>
          <p:nvPr/>
        </p:nvSpPr>
        <p:spPr>
          <a:xfrm>
            <a:off x="8001000" y="4956048"/>
            <a:ext cx="571500" cy="18745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4956048"/>
            <a:ext cx="571500" cy="187452"/>
          </a:xfrm>
          <a:prstGeom prst="rect">
            <a:avLst/>
          </a:prstGeom>
          <a:solidFill>
            <a:srgbClr val="3A3A3A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766</Words>
  <Application>Microsoft Office PowerPoint</Application>
  <PresentationFormat>On-screen Show (16:9)</PresentationFormat>
  <Paragraphs>217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</cp:lastModifiedBy>
  <cp:revision>3</cp:revision>
  <dcterms:created xsi:type="dcterms:W3CDTF">2026-09-26T09:14:56Z</dcterms:created>
  <dcterms:modified xsi:type="dcterms:W3CDTF">2026-09-27T17:03:34Z</dcterms:modified>
</cp:coreProperties>
</file>